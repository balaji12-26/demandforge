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678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0" y="2331720"/>
            <a:ext cx="5486400" cy="381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B300"/>
                </a:solidFill>
                <a:latin typeface="Calibri"/>
              </a:defRPr>
            </a:pPr>
            <a:r>
              <a:t>DemandForge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Turning Industrial Waste Heat into Profit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Calibri"/>
              </a:defRPr>
            </a:pPr>
            <a:r>
              <a:t>Team CityCoders  |  Hybrid Hack 2026 — Final Round: Business Model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65100"/>
                </a:solidFill>
                <a:latin typeface="Calibri"/>
              </a:defRPr>
            </a:pPr>
            <a:r>
              <a:t>AI-Driven Hybrid Renewable Energy  •  Energy-as-a-Service  •  Zero Upfront Cost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B300"/>
                </a:solidFill>
                <a:latin typeface="Calibri"/>
              </a:defRPr>
            </a:pPr>
            <a:r>
              <a:t>The Rs.4 Lakh Crore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67512"/>
            <a:ext cx="2743200" cy="381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2743200" cy="1737360"/>
          </a:xfrm>
          <a:prstGeom prst="roundRect">
            <a:avLst/>
          </a:prstGeom>
          <a:solidFill>
            <a:srgbClr val="1A233A"/>
          </a:solidFill>
          <a:ln w="254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B300"/>
                </a:solidFill>
                <a:latin typeface="Calibri"/>
              </a:defRPr>
            </a:pPr>
            <a:r>
              <a:t>Rs.4 Lakh Crore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India's annual industrial electricity spend</a:t>
            </a:r>
            <a:br/>
            <a:r>
              <a:t>(~500 BU × Rs.8/kWh avg)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005840"/>
            <a:ext cx="2743200" cy="1737360"/>
          </a:xfrm>
          <a:prstGeom prst="roundRect">
            <a:avLst/>
          </a:prstGeom>
          <a:solidFill>
            <a:srgbClr val="1A233A"/>
          </a:solidFill>
          <a:ln w="2540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92725" y="1141631"/>
            <a:ext cx="25414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5252"/>
                </a:solidFill>
                <a:latin typeface="Calibri"/>
              </a:defRPr>
            </a:pPr>
            <a:r>
              <a:rPr dirty="0"/>
              <a:t>35% Wasted at Peak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645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rPr dirty="0"/>
              <a:t>Evening surcharges + demand charges</a:t>
            </a:r>
            <a:br>
              <a:rPr dirty="0"/>
            </a:br>
            <a:r>
              <a:rPr dirty="0"/>
              <a:t>punish manufacturers every single 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05840"/>
            <a:ext cx="2743200" cy="1737360"/>
          </a:xfrm>
          <a:prstGeom prst="roundRect">
            <a:avLst/>
          </a:prstGeom>
          <a:solidFill>
            <a:srgbClr val="1A233A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143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5100"/>
                </a:solidFill>
                <a:latin typeface="Calibri"/>
              </a:defRPr>
            </a:pPr>
            <a:r>
              <a:t>400°C Dumped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645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Furnace exhaust heat vented to atmosphere</a:t>
            </a:r>
            <a:br/>
            <a:r>
              <a:t>— free energy thrown away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017520"/>
            <a:ext cx="7315200" cy="411480"/>
          </a:xfrm>
          <a:prstGeom prst="roundRect">
            <a:avLst/>
          </a:prstGeom>
          <a:solidFill>
            <a:srgbClr val="2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An </a:t>
            </a:r>
            <a:r>
              <a:rPr lang="en-IN"/>
              <a:t>TN</a:t>
            </a:r>
            <a:r>
              <a:t> </a:t>
            </a:r>
            <a:r>
              <a:rPr dirty="0"/>
              <a:t>metal-processing cluster pays Rs.2.13 lakh/DAY in electricity — Rs.78 lakh/month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Source: India industrial electricity ~500 BU/year (CEA 2024-25) × avg. Rs.8/kWh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B300"/>
                </a:solidFill>
                <a:latin typeface="Calibri"/>
              </a:defRPr>
            </a:pPr>
            <a:r>
              <a:t>DemandForge: 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67512"/>
            <a:ext cx="2743200" cy="381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65100"/>
                </a:solidFill>
                <a:latin typeface="Calibri"/>
              </a:defRPr>
            </a:pPr>
            <a:r>
              <a:t>"The furnaces causing the peak demand also produce the waste heat that powers the solution."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8046720" cy="475488"/>
          </a:xfrm>
          <a:prstGeom prst="roundRect">
            <a:avLst/>
          </a:prstGeom>
          <a:solidFill>
            <a:srgbClr val="1A233A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300"/>
                </a:solidFill>
                <a:latin typeface="Calibri"/>
              </a:defRPr>
            </a:pPr>
            <a:r>
              <a:t>☀  Solar PV — 1.0 MWp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Daytime base load coverage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75688"/>
            <a:ext cx="8046720" cy="475488"/>
          </a:xfrm>
          <a:prstGeom prst="roundRect">
            <a:avLst/>
          </a:prstGeom>
          <a:solidFill>
            <a:srgbClr val="1A233A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🔥  ORC Waste Heat — 500 kW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12140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Converts 400°C exhaust → electricity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42615"/>
            <a:ext cx="8046720" cy="475488"/>
          </a:xfrm>
          <a:prstGeom prst="roundRect">
            <a:avLst/>
          </a:prstGeom>
          <a:solidFill>
            <a:srgbClr val="1A233A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670047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🔋  LFP Battery — 3.5 MWh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88335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Bridges solar-to-ORC evening gap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09544"/>
            <a:ext cx="8046720" cy="475488"/>
          </a:xfrm>
          <a:prstGeom prst="roundRect">
            <a:avLst/>
          </a:prstGeom>
          <a:solidFill>
            <a:srgbClr val="1A233A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23697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Calibri"/>
              </a:defRPr>
            </a:pPr>
            <a:r>
              <a:t>🧠  AI Controller — XGBoost + MPC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25526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Optimal dispatch every 15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840480"/>
            <a:ext cx="6400800" cy="384048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Higher demand = more waste heat = more ORC power → natural hedge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B300"/>
                </a:solidFill>
                <a:latin typeface="Calibri"/>
              </a:defRPr>
            </a:pPr>
            <a:r>
              <a:t>How It Works: 24-Hour Energy Dispatch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67512"/>
            <a:ext cx="2743200" cy="381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2_energy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566928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1005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300"/>
                </a:solidFill>
                <a:latin typeface="Calibri"/>
              </a:defRPr>
            </a:pPr>
            <a:r>
              <a:t>6 AM – 5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234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Solar + ORC serve load</a:t>
            </a:r>
            <a:br/>
            <a:r>
              <a:t>Battery charges from surplus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830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5100"/>
                </a:solidFill>
                <a:latin typeface="Calibri"/>
              </a:defRPr>
            </a:pPr>
            <a:r>
              <a:t>5 – 6 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Solar dies, ORC ramps</a:t>
            </a:r>
            <a:br/>
            <a:r>
              <a:t>Battery begins discharge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5603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565C0"/>
                </a:solidFill>
                <a:latin typeface="Calibri"/>
              </a:defRPr>
            </a:pPr>
            <a:r>
              <a:t>6 – 10 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788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ORC + Battery cover peak</a:t>
            </a:r>
            <a:br/>
            <a:r>
              <a:t>Grid capped at 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337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99"/>
                </a:solidFill>
                <a:latin typeface="Calibri"/>
              </a:defRPr>
            </a:pPr>
            <a:r>
              <a:t>10 PM – 6 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566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Night shift: ORC residual</a:t>
            </a:r>
            <a:br/>
            <a:r>
              <a:t>+ minimal grid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B300"/>
                </a:solidFill>
                <a:latin typeface="Calibri"/>
              </a:defRPr>
            </a:pPr>
            <a:r>
              <a:t>Simulation Results: Proven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67512"/>
            <a:ext cx="2743200" cy="381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4320" y="868680"/>
            <a:ext cx="2103120" cy="1097280"/>
          </a:xfrm>
          <a:prstGeom prst="roundRect">
            <a:avLst/>
          </a:prstGeom>
          <a:solidFill>
            <a:srgbClr val="1A233A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C853"/>
                </a:solidFill>
                <a:latin typeface="Calibri"/>
              </a:defRPr>
            </a:pPr>
            <a:r>
              <a:t>65.9%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Peak Grid</a:t>
            </a:r>
            <a:br/>
            <a:r>
              <a:t>Reduction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868680"/>
            <a:ext cx="2103120" cy="1097280"/>
          </a:xfrm>
          <a:prstGeom prst="roundRect">
            <a:avLst/>
          </a:prstGeom>
          <a:solidFill>
            <a:srgbClr val="1A233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14600" y="9144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565C0"/>
                </a:solidFill>
                <a:latin typeface="Calibri"/>
              </a:defRPr>
            </a:pPr>
            <a:r>
              <a:t>61.2%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Daily Cost</a:t>
            </a:r>
            <a:br/>
            <a:r>
              <a:t>Saving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868680"/>
            <a:ext cx="2103120" cy="1097280"/>
          </a:xfrm>
          <a:prstGeom prst="roundRect">
            <a:avLst/>
          </a:prstGeom>
          <a:solidFill>
            <a:srgbClr val="1A233A"/>
          </a:solidFill>
          <a:ln w="254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9144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B300"/>
                </a:solidFill>
                <a:latin typeface="Calibri"/>
              </a:defRPr>
            </a:pPr>
            <a:r>
              <a:t>Rs.6.01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LCOS</a:t>
            </a:r>
            <a:br/>
            <a:r>
              <a:t>(Grid: Rs.7.65)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868680"/>
            <a:ext cx="2103120" cy="1097280"/>
          </a:xfrm>
          <a:prstGeom prst="roundRect">
            <a:avLst/>
          </a:prstGeom>
          <a:solidFill>
            <a:srgbClr val="1A233A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95160" y="9144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5100"/>
                </a:solidFill>
                <a:latin typeface="Calibri"/>
              </a:defRPr>
            </a:pPr>
            <a:r>
              <a:t>27.9%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IRR</a:t>
            </a:r>
            <a:br/>
            <a:r>
              <a:t>(4-yr payback)</a:t>
            </a:r>
          </a:p>
        </p:txBody>
      </p:sp>
      <p:pic>
        <p:nvPicPr>
          <p:cNvPr id="16" name="Picture 15" descr="04_grid_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6400800" cy="2560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71600" y="4617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↑ Grid import before vs after DemandForge — 60% cap satisfied at every timestep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B300"/>
                </a:solidFill>
                <a:latin typeface="Calibri"/>
              </a:defRPr>
            </a:pPr>
            <a:r>
              <a:t>AI Engine: XGBoost + MPC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67512"/>
            <a:ext cx="2743200" cy="381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2-output XGBoost: jointly predicts electrical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demand AND furnace thermal output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Thermal forecast → optimizer knows ORC power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coming during the evening peak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Tested on 5 held-out days (temporal split)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MPC: MILP optimizer solves provably optimal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dispatch every 15 minutes (not rule-of-thumb)</a:t>
            </a:r>
          </a:p>
        </p:txBody>
      </p:sp>
      <p:pic>
        <p:nvPicPr>
          <p:cNvPr id="5" name="Picture 4" descr="12_xgboost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22960"/>
            <a:ext cx="438912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3794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MAPE 2.7% (demand) | 3.6% (thermal) — R² = 0.9945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B300"/>
                </a:solidFill>
                <a:latin typeface="Calibri"/>
              </a:defRPr>
            </a:pPr>
            <a:r>
              <a:t>Business Model: Energy-as-a-Service (EaaS)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67512"/>
            <a:ext cx="2743200" cy="381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2743200" cy="2011680"/>
          </a:xfrm>
          <a:prstGeom prst="roundRect">
            <a:avLst/>
          </a:prstGeom>
          <a:solidFill>
            <a:srgbClr val="1A233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565C0"/>
                </a:solidFill>
                <a:latin typeface="Calibri"/>
              </a:defRPr>
            </a:pPr>
            <a:r>
              <a:t>1. We Install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We fund, own &amp; install the</a:t>
            </a:r>
            <a:br/>
            <a:r>
              <a:t>DemandForge system at</a:t>
            </a:r>
            <a:br/>
            <a:r>
              <a:t>the factory. Zero cost</a:t>
            </a:r>
            <a:br/>
            <a:r>
              <a:t>to the customer.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914400"/>
            <a:ext cx="2743200" cy="2011680"/>
          </a:xfrm>
          <a:prstGeom prst="roundRect">
            <a:avLst/>
          </a:prstGeom>
          <a:solidFill>
            <a:srgbClr val="1A233A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29000" y="1005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853"/>
                </a:solidFill>
                <a:latin typeface="Calibri"/>
              </a:defRPr>
            </a:pPr>
            <a:r>
              <a:t>2. They Save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4173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Factory pays Rs.6.75/kWh</a:t>
            </a:r>
            <a:br/>
            <a:r>
              <a:t>— 12% cheaper than grid</a:t>
            </a:r>
            <a:br/>
            <a:r>
              <a:t>(Rs.7.65). Savings from</a:t>
            </a:r>
            <a:br/>
            <a:r>
              <a:t>Day 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914400"/>
            <a:ext cx="2743200" cy="2011680"/>
          </a:xfrm>
          <a:prstGeom prst="roundRect">
            <a:avLst/>
          </a:prstGeom>
          <a:solidFill>
            <a:srgbClr val="1A233A"/>
          </a:solidFill>
          <a:ln w="254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005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B300"/>
                </a:solidFill>
                <a:latin typeface="Calibri"/>
              </a:defRPr>
            </a:pPr>
            <a:r>
              <a:t>3. We 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4173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10-year PPA contract.</a:t>
            </a:r>
            <a:br/>
            <a:r>
              <a:t>We earn Rs.0.74/kWh</a:t>
            </a:r>
            <a:br/>
            <a:r>
              <a:t>spread. Predictable</a:t>
            </a:r>
            <a:br/>
            <a:r>
              <a:t>recurring revenue.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7680960" cy="411480"/>
          </a:xfrm>
          <a:prstGeom prst="round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Key selling line: "Your electricity bill drops from Day 1. You pay nothing upfront."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Factory: Rs.7.65/kWh (grid) → Rs.6.75/kWh (DemandForge) = 12% savings   |   DemandForge: Rs.0.74/kWh margin × 22,000 kWh/day × 300 days = Rs.48.8 L/year net per factory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B300"/>
                </a:solidFill>
                <a:latin typeface="Calibri"/>
              </a:defRPr>
            </a:pPr>
            <a:r>
              <a:t>Unit Economics: Per Factory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67512"/>
            <a:ext cx="2743200" cy="381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86868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(Rs.)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Solar PV (1 MWp)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4.20 Cr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ORC System (500 kW)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4.25 Cr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LFP Battery (3.5 MWh)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4.03 Cr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GFM Inverter (1.5 MW)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0.68 Cr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Balance of System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1.58 Cr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TOTAL CAPEX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14.73 Cr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120640" y="914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LCOS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914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Calibri"/>
              </a:defRPr>
            </a:pPr>
            <a:r>
              <a:t>Rs.6.01/kWh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Grid Tariff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99"/>
                </a:solidFill>
                <a:latin typeface="Calibri"/>
              </a:defRPr>
            </a:pPr>
            <a:r>
              <a:t>Rs.7.65/kWh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68249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PPA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68249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300"/>
                </a:solidFill>
                <a:latin typeface="Calibri"/>
              </a:defRPr>
            </a:pPr>
            <a:r>
              <a:t>Rs.6.75/kWh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06654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06654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Calibri"/>
              </a:defRPr>
            </a:pPr>
            <a:r>
              <a:t>Rs.0.74/kWh (12.3%)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45059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Annual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45059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565C0"/>
                </a:solidFill>
                <a:latin typeface="Calibri"/>
              </a:defRPr>
            </a:pPr>
            <a:r>
              <a:t>Rs.1.2 Cr/factory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Annual OPEX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CCCC"/>
                </a:solidFill>
                <a:latin typeface="Calibri"/>
              </a:defRPr>
            </a:pPr>
            <a:r>
              <a:t>Rs.33.5 Lakhs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IRR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300"/>
                </a:solidFill>
                <a:latin typeface="Calibri"/>
              </a:defRPr>
            </a:pPr>
            <a:r>
              <a:t>27.9%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6027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Payback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6027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Calibri"/>
              </a:defRPr>
            </a:pPr>
            <a:r>
              <a:t>4 years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374876"/>
            <a:ext cx="4462492" cy="399516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LCOS Rs.6.01 &lt; Grid Rs.7.65 → Economically viable WITHOUT any subsidy</a:t>
            </a:r>
          </a:p>
        </p:txBody>
      </p:sp>
      <p:pic>
        <p:nvPicPr>
          <p:cNvPr id="22" name="Picture 21" descr="14_lcos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31920"/>
            <a:ext cx="822960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B300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67512"/>
            <a:ext cx="2743200" cy="381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4754880" cy="3200400"/>
          </a:xfrm>
          <a:prstGeom prst="roundRect">
            <a:avLst/>
          </a:prstGeom>
          <a:solidFill>
            <a:srgbClr val="1A2A45"/>
          </a:solidFill>
          <a:ln w="1905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4206240" cy="2286000"/>
          </a:xfrm>
          <a:prstGeom prst="roundRect">
            <a:avLst/>
          </a:prstGeom>
          <a:solidFill>
            <a:srgbClr val="1A304A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657600" cy="1371600"/>
          </a:xfrm>
          <a:prstGeom prst="roundRect">
            <a:avLst/>
          </a:prstGeom>
          <a:solidFill>
            <a:srgbClr val="1A3A25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8D4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0058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All Indian factories with waste heat &gt;300°C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2344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~50,000 units  •  Rs.40,000+ Cr addressable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6459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AP + Telangana + TN clusters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874519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~8,000 units  •  Rs.6,400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194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53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2402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Year 1-3: 1 pilot → 20 factories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4688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Rs.24 Cr annual revenue by Year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300"/>
                </a:solidFill>
                <a:latin typeface="Calibri"/>
              </a:defRPr>
            </a:pPr>
            <a:r>
              <a:t>Target Industries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28016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• Metal processing (reheating furnaces)</a:t>
            </a:r>
          </a:p>
          <a:p>
            <a:pPr>
              <a:spcAft>
                <a:spcPts val="6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• Steel mills (blast furnace waste heat)</a:t>
            </a:r>
          </a:p>
          <a:p>
            <a:pPr>
              <a:spcAft>
                <a:spcPts val="6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• Cement plants (kiln exhaust &gt;400°C)</a:t>
            </a:r>
          </a:p>
          <a:p>
            <a:pPr>
              <a:spcAft>
                <a:spcPts val="6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• Glass manufacturing</a:t>
            </a:r>
          </a:p>
          <a:p>
            <a:pPr>
              <a:spcAft>
                <a:spcPts val="6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• Textile dyeing (steam waste heat)</a:t>
            </a:r>
          </a:p>
          <a:p>
            <a:pPr>
              <a:spcAft>
                <a:spcPts val="6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• Oil refineries (process heat)</a:t>
            </a:r>
          </a:p>
          <a:p>
            <a:pPr>
              <a:spcAft>
                <a:spcPts val="6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Common trait: All have waste heat</a:t>
            </a:r>
          </a:p>
          <a:p>
            <a:pPr>
              <a:spcAft>
                <a:spcPts val="6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&gt;300°C AND pay peak tariff surcharges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Sources: MNRE Industrial Energy Audit database, BEE PAT scheme designated consumers list, CEA 2024-25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B300"/>
                </a:solidFill>
                <a:latin typeface="Calibri"/>
              </a:defRPr>
            </a:pPr>
            <a:r>
              <a:t>Go-to-Market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67512"/>
            <a:ext cx="2743200" cy="381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4320" y="868680"/>
            <a:ext cx="4297680" cy="1371600"/>
          </a:xfrm>
          <a:prstGeom prst="roundRect">
            <a:avLst/>
          </a:prstGeom>
          <a:solidFill>
            <a:srgbClr val="1A233A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4183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Calibri"/>
              </a:defRPr>
            </a:pPr>
            <a:r>
              <a:t>1. Government Subsidies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52728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MNRE KUSUM scheme, BEE PAT</a:t>
            </a:r>
            <a:br/>
            <a:r>
              <a:t>(Perform-Achieve-Trade), PLI for</a:t>
            </a:r>
            <a:br/>
            <a:r>
              <a:t>advanced energy storage.</a:t>
            </a:r>
            <a:br/>
            <a:r>
              <a:t>De-risks our CAPEX.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868680"/>
            <a:ext cx="4297680" cy="1371600"/>
          </a:xfrm>
          <a:prstGeom prst="roundRect">
            <a:avLst/>
          </a:prstGeom>
          <a:solidFill>
            <a:srgbClr val="1A233A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92040" y="94183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2. State Industrial Bodies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252728"/>
            <a:ext cx="40233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dirty="0"/>
              <a:t>APIIC (AP), TSIIC (Telangana)</a:t>
            </a:r>
            <a:r>
              <a:rPr lang="en-IN" dirty="0"/>
              <a:t>, TIDCO (Tamil Nadu)</a:t>
            </a:r>
            <a:br>
              <a:rPr dirty="0"/>
            </a:br>
            <a:r>
              <a:rPr dirty="0"/>
              <a:t>partnerships for credibility</a:t>
            </a:r>
            <a:br>
              <a:rPr dirty="0"/>
            </a:br>
            <a:r>
              <a:rPr dirty="0"/>
              <a:t>and deal flow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423160"/>
            <a:ext cx="4297680" cy="1371600"/>
          </a:xfrm>
          <a:prstGeom prst="roundRect">
            <a:avLst/>
          </a:prstGeom>
          <a:solidFill>
            <a:srgbClr val="1A233A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249631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300"/>
                </a:solidFill>
                <a:latin typeface="Calibri"/>
              </a:defRPr>
            </a:pPr>
            <a:r>
              <a:t>3. Industry Associations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807208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CII, FICCI events for lead</a:t>
            </a:r>
            <a:br/>
            <a:r>
              <a:t>generation. Direct outreach</a:t>
            </a:r>
            <a:br/>
            <a:r>
              <a:t>to factory owners.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423160"/>
            <a:ext cx="4297680" cy="1371600"/>
          </a:xfrm>
          <a:prstGeom prst="roundRect">
            <a:avLst/>
          </a:prstGeom>
          <a:solidFill>
            <a:srgbClr val="1A233A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92040" y="249631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4. Pilot Case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807208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"Factory X saved Rs.39L/month"</a:t>
            </a:r>
            <a:br/>
            <a:r>
              <a:t>→ proof-based selling tool.</a:t>
            </a:r>
            <a:br/>
            <a:r>
              <a:t>Most powerful channel.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023360"/>
            <a:ext cx="7315200" cy="384048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Behind-the-meter installation → No grid export approvals needed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B300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67512"/>
            <a:ext cx="2743200" cy="381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4320" y="868680"/>
            <a:ext cx="2743200" cy="1920240"/>
          </a:xfrm>
          <a:prstGeom prst="roundRect">
            <a:avLst/>
          </a:prstGeom>
          <a:solidFill>
            <a:srgbClr val="1A233A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Calibri"/>
              </a:defRPr>
            </a:pPr>
            <a:r>
              <a:t>Phase 1: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7043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2468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rPr dirty="0"/>
              <a:t>1 installation at </a:t>
            </a:r>
            <a:r>
              <a:rPr lang="en-IN" dirty="0"/>
              <a:t>TN</a:t>
            </a:r>
            <a:r>
              <a:rPr dirty="0"/>
              <a:t> metal cluster</a:t>
            </a:r>
            <a:br>
              <a:rPr dirty="0"/>
            </a:br>
            <a:r>
              <a:rPr dirty="0"/>
              <a:t>Prove unit economics in real life</a:t>
            </a:r>
            <a:br>
              <a:rPr dirty="0"/>
            </a:br>
            <a:r>
              <a:rPr dirty="0"/>
              <a:t>Build the case study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868680"/>
            <a:ext cx="2743200" cy="1920240"/>
          </a:xfrm>
          <a:prstGeom prst="roundRect">
            <a:avLst/>
          </a:prstGeom>
          <a:solidFill>
            <a:srgbClr val="1A233A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9144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Phase 2: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17043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Year 2-3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379868"/>
            <a:ext cx="29373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CCCCC"/>
                </a:solidFill>
                <a:latin typeface="Calibri"/>
              </a:defRPr>
            </a:pPr>
            <a:r>
              <a:rPr dirty="0"/>
              <a:t>10-20 factories in </a:t>
            </a:r>
            <a:r>
              <a:rPr lang="en-IN" dirty="0"/>
              <a:t>Tamil Nadu/ Telangana/ Andhra Pradesh</a:t>
            </a:r>
            <a:br>
              <a:rPr dirty="0"/>
            </a:br>
            <a:r>
              <a:rPr dirty="0"/>
              <a:t>Standardize ORC + BESS kit</a:t>
            </a:r>
            <a:br>
              <a:rPr dirty="0"/>
            </a:br>
            <a:r>
              <a:rPr dirty="0"/>
              <a:t>Partner with local EPCs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868680"/>
            <a:ext cx="2743200" cy="1920240"/>
          </a:xfrm>
          <a:prstGeom prst="roundRect">
            <a:avLst/>
          </a:prstGeom>
          <a:solidFill>
            <a:srgbClr val="1A233A"/>
          </a:solidFill>
          <a:ln w="254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9144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300"/>
                </a:solidFill>
                <a:latin typeface="Calibri"/>
              </a:defRPr>
            </a:pPr>
            <a:r>
              <a:t>Phase 3: Expand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17043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Year 3-5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417320"/>
            <a:ext cx="24688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rPr dirty="0"/>
              <a:t>Multi-state: Gujarat, Maharashtra, </a:t>
            </a:r>
            <a:r>
              <a:rPr lang="en-IN" dirty="0"/>
              <a:t>Karnataka</a:t>
            </a:r>
            <a:br>
              <a:rPr dirty="0"/>
            </a:br>
            <a:r>
              <a:rPr dirty="0"/>
              <a:t>Add more waste heat sources</a:t>
            </a:r>
            <a:br>
              <a:rPr dirty="0"/>
            </a:br>
            <a:r>
              <a:rPr dirty="0"/>
              <a:t>50 factories by Year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Per-Site Deployment: 4 Months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337560"/>
          <a:ext cx="82296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Site Survey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 Design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Installation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Commissioning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 weeks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4 weeks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8 weeks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 weeks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Load audit, thermal</a:t>
                      </a:r>
                    </a:p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measurement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Custom sizing,</a:t>
                      </a:r>
                    </a:p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PPA contract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Solar, ORC, BESS</a:t>
                      </a:r>
                    </a:p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installation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Testing, grid</a:t>
                      </a:r>
                    </a:p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B300"/>
                </a:solidFill>
                <a:latin typeface="Calibri"/>
              </a:defRPr>
            </a:pPr>
            <a:r>
              <a:t>Why DemandForge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67512"/>
            <a:ext cx="2743200" cy="381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868680"/>
          <a:ext cx="8412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Advantage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Competition Gap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ORC waste heat coupling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Problem powers the solution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Nobody else combines ORC +</a:t>
                      </a:r>
                    </a:p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solar + battery + AI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AI dispatch (XGBoost + MPC)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Provably optimal, adapts to</a:t>
                      </a:r>
                    </a:p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each factory's patterns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Competitors use timers or</a:t>
                      </a:r>
                    </a:p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rule-of-thumb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LCOS &lt; Grid tariff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Viable WITHOUT subsidies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Most BESS projects need</a:t>
                      </a:r>
                    </a:p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subsidies to break even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4-year payback, 28% IRR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Fast returns for investors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Typical infra: 8-10 year</a:t>
                      </a:r>
                    </a:p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payback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Behind-the-meter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 grid export approvals</a:t>
                      </a:r>
                    </a:p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needed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Grid-tied projects face</a:t>
                      </a:r>
                    </a:p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regulatory delays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3840480"/>
            <a:ext cx="7315200" cy="457200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We're a system integrator, not a component vendor. Solar EPC is commodity,</a:t>
            </a:r>
            <a:br/>
            <a:r>
              <a:t>ORC is partnered, battery is off-the-shelf. We're the AI brain.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B300"/>
                </a:solidFill>
                <a:latin typeface="Calibri"/>
              </a:defRPr>
            </a:pPr>
            <a:r>
              <a:t>Revenue Projections &amp;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67512"/>
            <a:ext cx="2743200" cy="381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591781"/>
              </p:ext>
            </p:extLst>
          </p:nvPr>
        </p:nvGraphicFramePr>
        <p:xfrm>
          <a:off x="365760" y="868680"/>
          <a:ext cx="54864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Factories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Annual Revenue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Cumulative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 (pilot)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Rs.1.2 Cr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Rs.1.2 Cr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Prove concept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Rs.6 Cr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Rs.7.2 Cr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rPr lang="en-IN" dirty="0"/>
                        <a:t>TN</a:t>
                      </a:r>
                      <a:r>
                        <a:rPr dirty="0"/>
                        <a:t> cluster expansion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Rs.18 Cr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Rs.25.2 Cr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Multi-state entry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Year 5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Rs.60 Cr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Rs.103 Cr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rPr dirty="0"/>
                        <a:t>Scaled operations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5530" y="27706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rPr dirty="0"/>
              <a:t>Revenue = Rs.1.2 Cr/factory/year (EaaS PPA at Rs.6.75/kWh × 22,000 kWh/day × 300 days)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868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Calibri"/>
              </a:defRPr>
            </a:pPr>
            <a:r>
              <a:rPr dirty="0"/>
              <a:t>Impact per Factory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CO₂ Avoided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280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Calibri"/>
              </a:defRPr>
            </a:pPr>
            <a:r>
              <a:rPr dirty="0"/>
              <a:t>3,550 </a:t>
            </a:r>
            <a:r>
              <a:rPr dirty="0" err="1"/>
              <a:t>tonnes</a:t>
            </a:r>
            <a:r>
              <a:rPr dirty="0"/>
              <a:t>/yr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Waste Heat Saved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5100"/>
                </a:solidFill>
                <a:latin typeface="Calibri"/>
              </a:defRPr>
            </a:pPr>
            <a:r>
              <a:t>7,425 kWh/day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Renewable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565C0"/>
                </a:solidFill>
                <a:latin typeface="Calibri"/>
              </a:defRPr>
            </a:pPr>
            <a:r>
              <a:t>61.1%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651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Grid Dependence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300"/>
                </a:solidFill>
                <a:latin typeface="Calibri"/>
              </a:defRPr>
            </a:pPr>
            <a:r>
              <a:t>↓ 65.9%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252"/>
                </a:solidFill>
                <a:latin typeface="Calibri"/>
              </a:defRPr>
            </a:pPr>
            <a:r>
              <a:t>Key Risks &amp; Mitigations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3246120"/>
          <a:ext cx="8412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Factory shutdown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PPA has minimum offtake clause + standby charges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Battery degradation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LFP at 20-50% SOC → 10,000+ cycles. Replace Year 10 at 55% cost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Grid tariff decrease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APERC tariffs rose 3-5%/yr for 10 years. LCOS has 21% headroom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Regulatory changes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Behind-the-meter = no export approvals. MNRE supports industrial RE</a:t>
                      </a:r>
                    </a:p>
                  </a:txBody>
                  <a:tcPr>
                    <a:solidFill>
                      <a:srgbClr val="18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B300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051560"/>
            <a:ext cx="3657600" cy="381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Rs.20 Crores Seed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To deploy 3 pilot systems and prove unit economics at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68880"/>
            <a:ext cx="2743200" cy="1097280"/>
          </a:xfrm>
          <a:prstGeom prst="roundRect">
            <a:avLst/>
          </a:prstGeom>
          <a:solidFill>
            <a:srgbClr val="1A233A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5420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65C0"/>
                </a:solidFill>
                <a:latin typeface="Calibri"/>
              </a:defRPr>
            </a:pPr>
            <a:r>
              <a:t>3 Pilot Installations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5292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~Rs.5 Cr each after</a:t>
            </a:r>
            <a:br/>
            <a:r>
              <a:t>MNRE/BEE subsidies</a:t>
            </a:r>
            <a:br/>
            <a:r>
              <a:t>(3 sites = Rs.15 Cr)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468880"/>
            <a:ext cx="2743200" cy="1097280"/>
          </a:xfrm>
          <a:prstGeom prst="roundRect">
            <a:avLst/>
          </a:prstGeom>
          <a:solidFill>
            <a:srgbClr val="1A233A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25420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B300"/>
                </a:solidFill>
                <a:latin typeface="Calibri"/>
              </a:defRPr>
            </a:pPr>
            <a:r>
              <a:t>AI Platform 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85292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Rs.2 Cr — productize the</a:t>
            </a:r>
            <a:br/>
            <a:r>
              <a:t>XGBoost + MPC engine</a:t>
            </a:r>
            <a:br/>
            <a:r>
              <a:t>into deployable product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468880"/>
            <a:ext cx="2743200" cy="1097280"/>
          </a:xfrm>
          <a:prstGeom prst="roundRect">
            <a:avLst/>
          </a:prstGeom>
          <a:solidFill>
            <a:srgbClr val="1A233A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5420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53"/>
                </a:solidFill>
                <a:latin typeface="Calibri"/>
              </a:defRPr>
            </a:pPr>
            <a:r>
              <a:t>Team &amp;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85292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Rs.1.5 Cr — engineers,</a:t>
            </a:r>
            <a:br/>
            <a:r>
              <a:t>business development,</a:t>
            </a:r>
            <a:br/>
            <a:r>
              <a:t>working capital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794760"/>
            <a:ext cx="6400800" cy="50292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With proven pilots → Rs.60 Cr annual revenue by Year 5</a:t>
            </a:r>
            <a:br/>
            <a:r>
              <a:t>50 factories  •  27.9% IRR  •  1,77,500 tonnes CO₂ avoided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B300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828800"/>
            <a:ext cx="3657600" cy="381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Team CityCoders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65100"/>
                </a:solidFill>
                <a:latin typeface="Calibri"/>
              </a:defRPr>
            </a:pPr>
            <a:r>
              <a:t>"Every factory with waste heat is a power plant in disguise.</a:t>
            </a:r>
            <a:br/>
            <a:r>
              <a:t>DemandForge wakes it up."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Calibri"/>
              </a:defRPr>
            </a:pPr>
            <a:r>
              <a:t>Full simulation: python main.py → 25 seconds → reproducible results</a:t>
            </a:r>
            <a:br/>
            <a:r>
              <a:t>65.9% grid reduction  •  Rs.6.01 LCOS  •  28% IRR  •  4-year payback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1524</Words>
  <Application>Microsoft Office PowerPoint</Application>
  <PresentationFormat>On-screen Show (16:9)</PresentationFormat>
  <Paragraphs>251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Balaji Kamjula</cp:lastModifiedBy>
  <cp:revision>9</cp:revision>
  <dcterms:created xsi:type="dcterms:W3CDTF">2013-01-27T09:14:16Z</dcterms:created>
  <dcterms:modified xsi:type="dcterms:W3CDTF">2026-07-10T03:04:58Z</dcterms:modified>
  <cp:category/>
</cp:coreProperties>
</file>